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26"/>
  </p:notesMasterIdLst>
  <p:handoutMasterIdLst>
    <p:handoutMasterId r:id="rId27"/>
  </p:handoutMasterIdLst>
  <p:sldIdLst>
    <p:sldId id="410" r:id="rId5"/>
    <p:sldId id="383" r:id="rId6"/>
    <p:sldId id="397" r:id="rId7"/>
    <p:sldId id="409" r:id="rId8"/>
    <p:sldId id="411" r:id="rId9"/>
    <p:sldId id="391" r:id="rId10"/>
    <p:sldId id="421" r:id="rId11"/>
    <p:sldId id="408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1" r:id="rId22"/>
    <p:sldId id="432" r:id="rId23"/>
    <p:sldId id="433" r:id="rId24"/>
    <p:sldId id="3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327" autoAdjust="0"/>
  </p:normalViewPr>
  <p:slideViewPr>
    <p:cSldViewPr snapToGrid="0">
      <p:cViewPr varScale="1">
        <p:scale>
          <a:sx n="91" d="100"/>
          <a:sy n="91" d="100"/>
        </p:scale>
        <p:origin x="259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28-Sep-25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28-Sep-25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hiimanshuu0406@gmail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127" y="2349337"/>
            <a:ext cx="5486400" cy="3291840"/>
          </a:xfrm>
        </p:spPr>
        <p:txBody>
          <a:bodyPr/>
          <a:lstStyle/>
          <a:p>
            <a:r>
              <a:rPr lang="en-US" dirty="0"/>
              <a:t>Ola Ride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19898-2D78-2B9E-29ED-826906AD8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720" y="0"/>
            <a:ext cx="5376412" cy="302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4496634"/>
          </a:xfrm>
        </p:spPr>
        <p:txBody>
          <a:bodyPr tIns="457200"/>
          <a:lstStyle/>
          <a:p>
            <a:pPr fontAlgn="base"/>
            <a:r>
              <a:rPr lang="en-US" dirty="0"/>
              <a:t>Analyze ride booking patterns</a:t>
            </a:r>
          </a:p>
          <a:p>
            <a:r>
              <a:rPr lang="en-US" dirty="0"/>
              <a:t>Evaluate vehicle type performance</a:t>
            </a:r>
          </a:p>
          <a:p>
            <a:r>
              <a:rPr lang="en-US" dirty="0"/>
              <a:t>Measure customer satisfaction</a:t>
            </a:r>
          </a:p>
          <a:p>
            <a:r>
              <a:rPr lang="en-US" dirty="0"/>
              <a:t>Understand cancellation behavior</a:t>
            </a:r>
          </a:p>
          <a:p>
            <a:r>
              <a:rPr lang="en-US" dirty="0"/>
              <a:t>Provide data-driven insights</a:t>
            </a:r>
          </a:p>
          <a:p>
            <a:r>
              <a:rPr lang="en-US" dirty="0"/>
              <a:t>Develop an interactive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49CEE0-7C47-2387-E3C7-C193B03A1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022" y="3030547"/>
            <a:ext cx="5329806" cy="299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Visual aids</a:t>
            </a:r>
            <a:br>
              <a:rPr lang="en-US" dirty="0"/>
            </a:br>
            <a:r>
              <a:rPr lang="en-US" dirty="0"/>
              <a:t>(Dashboards)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95" y="1"/>
            <a:ext cx="11692570" cy="471340"/>
          </a:xfrm>
        </p:spPr>
        <p:txBody>
          <a:bodyPr/>
          <a:lstStyle/>
          <a:p>
            <a:pPr algn="ctr"/>
            <a:r>
              <a:rPr lang="en-US" sz="3600" dirty="0"/>
              <a:t>Dashboard 1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5474EEF-8145-CAF8-56CF-F08142B5DA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C6258E-2F77-9F76-6643-1C095CC4B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061"/>
            <a:ext cx="12192000" cy="643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DC0890-80F1-B79B-B6D5-9B3E9429F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43" y="0"/>
            <a:ext cx="11560595" cy="535455"/>
          </a:xfrm>
        </p:spPr>
        <p:txBody>
          <a:bodyPr/>
          <a:lstStyle/>
          <a:p>
            <a:pPr algn="ctr"/>
            <a:r>
              <a:rPr lang="en-US" sz="3600" dirty="0"/>
              <a:t>Dashboard</a:t>
            </a:r>
            <a:r>
              <a:rPr lang="en-US" sz="4400" dirty="0"/>
              <a:t> </a:t>
            </a:r>
            <a:r>
              <a:rPr lang="en-US" sz="3600" dirty="0"/>
              <a:t>2</a:t>
            </a:r>
            <a:endParaRPr lang="en-US" sz="4400" dirty="0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07EE7F7-AA93-7203-A4F7-DE6213D071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-3203" t="261"/>
          <a:stretch>
            <a:fillRect/>
          </a:stretch>
        </p:blipFill>
        <p:spPr>
          <a:xfrm>
            <a:off x="-411062" y="469783"/>
            <a:ext cx="12603062" cy="6410760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5315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604135"/>
          </a:xfrm>
        </p:spPr>
        <p:txBody>
          <a:bodyPr/>
          <a:lstStyle/>
          <a:p>
            <a:r>
              <a:rPr lang="en-US" dirty="0"/>
              <a:t>SQL Insights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5" name="Title 2">
            <a:extLst>
              <a:ext uri="{FF2B5EF4-FFF2-40B4-BE49-F238E27FC236}">
                <a16:creationId xmlns:a16="http://schemas.microsoft.com/office/drawing/2014/main" id="{F2CD194D-A5AB-AB6A-8A0D-DF0967A07C15}"/>
              </a:ext>
            </a:extLst>
          </p:cNvPr>
          <p:cNvSpPr txBox="1">
            <a:spLocks/>
          </p:cNvSpPr>
          <p:nvPr/>
        </p:nvSpPr>
        <p:spPr>
          <a:xfrm>
            <a:off x="3253671" y="443047"/>
            <a:ext cx="4646943" cy="10240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1. Retrieve all successful bookings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C130D4-D5DA-4752-C43B-54D3D9035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69" t="13064" r="1595" b="12172"/>
          <a:stretch>
            <a:fillRect/>
          </a:stretch>
        </p:blipFill>
        <p:spPr>
          <a:xfrm>
            <a:off x="191094" y="1505214"/>
            <a:ext cx="11463193" cy="51272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9982BA-5426-4081-385B-9620365F2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160" y="102875"/>
            <a:ext cx="4334480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3B54-68C2-4716-4BAC-057CF18BB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2836997" cy="1961595"/>
          </a:xfrm>
        </p:spPr>
        <p:txBody>
          <a:bodyPr/>
          <a:lstStyle/>
          <a:p>
            <a:r>
              <a:rPr lang="en-US" sz="3200" dirty="0"/>
              <a:t>2. Find the average ride distance for each vehicle type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9A076A-58E1-FE6F-9998-5B516173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167" y="1027650"/>
            <a:ext cx="7757021" cy="480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2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476092"/>
            <a:ext cx="4892041" cy="1494596"/>
          </a:xfrm>
        </p:spPr>
        <p:txBody>
          <a:bodyPr/>
          <a:lstStyle/>
          <a:p>
            <a:r>
              <a:rPr lang="en-US" sz="3200" dirty="0"/>
              <a:t>3. Get the total number      of cancelled rides by customers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720B5-9E0E-50B5-C8C1-831C665C8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814" y="2407640"/>
            <a:ext cx="7864372" cy="343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305A-1E26-8102-2E95-4E8FEEA68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87717"/>
            <a:ext cx="6032943" cy="1680205"/>
          </a:xfrm>
        </p:spPr>
        <p:txBody>
          <a:bodyPr/>
          <a:lstStyle/>
          <a:p>
            <a:r>
              <a:rPr lang="en-US" sz="3200" dirty="0"/>
              <a:t>4. List the top 5 customers who booked the highest number of rides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00FD31-D2CB-3434-BB1D-917B9C84E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490" y="2323750"/>
            <a:ext cx="7757020" cy="378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17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C0527-F0FD-9467-5636-232A1AFA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58" y="0"/>
            <a:ext cx="4939666" cy="2542810"/>
          </a:xfrm>
        </p:spPr>
        <p:txBody>
          <a:bodyPr/>
          <a:lstStyle/>
          <a:p>
            <a:r>
              <a:rPr lang="en-US" sz="3200" dirty="0"/>
              <a:t>5. Get the number of rides cancelled by drivers due to personal and car-related issues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E2B758-D872-5FF9-3E04-BF53AFB3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70" y="3257279"/>
            <a:ext cx="8421275" cy="289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57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99B2-4170-9485-143F-9425B1AE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253704"/>
            <a:ext cx="4699093" cy="1680205"/>
          </a:xfrm>
        </p:spPr>
        <p:txBody>
          <a:bodyPr/>
          <a:lstStyle/>
          <a:p>
            <a:r>
              <a:rPr lang="en-US" sz="3200" dirty="0"/>
              <a:t>6. Find the maximum and minimum driver ratings for Prime Sedan bookings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CC8BD9-6C25-52B8-612F-EBF388289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697" y="2246942"/>
            <a:ext cx="8869960" cy="375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93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D6F9-1895-6865-DEA2-659555C4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36" y="0"/>
            <a:ext cx="5691308" cy="952003"/>
          </a:xfrm>
        </p:spPr>
        <p:txBody>
          <a:bodyPr/>
          <a:lstStyle/>
          <a:p>
            <a:r>
              <a:rPr lang="en-US" sz="3200" dirty="0"/>
              <a:t>7. Retrieve all rides where payment was made using UPI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42E50C-A2D0-F88F-E2A3-5D37CD9246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40" t="25566" r="1197" b="12171"/>
          <a:stretch>
            <a:fillRect/>
          </a:stretch>
        </p:blipFill>
        <p:spPr>
          <a:xfrm>
            <a:off x="0" y="1568741"/>
            <a:ext cx="10125512" cy="5289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5625BF-4E93-CB55-E0B4-1B6D9F9A4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255" y="-31683"/>
            <a:ext cx="5877745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58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C6EB-62F4-B47D-7DB6-7B04ACED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4053141" cy="1680205"/>
          </a:xfrm>
        </p:spPr>
        <p:txBody>
          <a:bodyPr/>
          <a:lstStyle/>
          <a:p>
            <a:r>
              <a:rPr lang="en-US" sz="3200" dirty="0"/>
              <a:t>8. Find the average customer rating per vehicle type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E18C62-47A5-8471-4069-DB3DF2215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761" y="1783080"/>
            <a:ext cx="7300335" cy="396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38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D454-62BE-A0F3-4538-39632594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7" y="343948"/>
            <a:ext cx="4939666" cy="1374643"/>
          </a:xfrm>
        </p:spPr>
        <p:txBody>
          <a:bodyPr/>
          <a:lstStyle/>
          <a:p>
            <a:r>
              <a:rPr lang="en-US" sz="3200" dirty="0"/>
              <a:t>9. Calculate the total booking value of rides completed successfully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09781E-98E0-4D8B-41A6-3D362EE81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126" y="2661781"/>
            <a:ext cx="6897063" cy="370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91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38A4-3001-B33D-3274-23F9F6A9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328"/>
            <a:ext cx="5100506" cy="1380760"/>
          </a:xfrm>
        </p:spPr>
        <p:txBody>
          <a:bodyPr/>
          <a:lstStyle/>
          <a:p>
            <a:r>
              <a:rPr lang="en-US" sz="3200" dirty="0"/>
              <a:t>10. List all incomplete rides along with the reason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52BF2E-68AC-63ED-4612-DBF6B4253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05" t="26422" r="37359" b="10825"/>
          <a:stretch>
            <a:fillRect/>
          </a:stretch>
        </p:blipFill>
        <p:spPr>
          <a:xfrm>
            <a:off x="4093827" y="618223"/>
            <a:ext cx="7977930" cy="36601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8E7C1C-7E84-F371-C220-B9CC71AA85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89"/>
          <a:stretch>
            <a:fillRect/>
          </a:stretch>
        </p:blipFill>
        <p:spPr>
          <a:xfrm>
            <a:off x="245482" y="4437216"/>
            <a:ext cx="7696690" cy="233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8788-BA40-44E4-DECC-81F108B6E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7112"/>
            <a:ext cx="6787747" cy="565437"/>
          </a:xfrm>
        </p:spPr>
        <p:txBody>
          <a:bodyPr/>
          <a:lstStyle/>
          <a:p>
            <a:r>
              <a:rPr lang="en-US" sz="4000" dirty="0" err="1"/>
              <a:t>Streamlit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F0970-9D3D-0B8C-DE81-9A8D92B76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53"/>
          <a:stretch>
            <a:fillRect/>
          </a:stretch>
        </p:blipFill>
        <p:spPr>
          <a:xfrm>
            <a:off x="-1" y="629174"/>
            <a:ext cx="12192001" cy="616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59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4037A1-6102-A992-DC48-D090D97614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7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40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53E5C1-35F8-C1F8-7877-3E147D98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86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57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747FDC-7589-1B8A-ABF5-D76367BBEB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08" r="11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49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0DF1-01BB-CD88-BB10-914DC2A70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556601"/>
          </a:xfrm>
        </p:spPr>
        <p:txBody>
          <a:bodyPr/>
          <a:lstStyle/>
          <a:p>
            <a:r>
              <a:rPr lang="en-US" sz="3500" dirty="0"/>
              <a:t>Insights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2FCAE-AFF0-AC86-20FA-5B82887F2C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348917"/>
            <a:ext cx="5746750" cy="392507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Revenue Contribution</a:t>
            </a:r>
            <a:r>
              <a:rPr lang="en-US" dirty="0"/>
              <a:t> – Prime Sedan and Prime SUV generated the highest booking value.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Customer Ratings</a:t>
            </a:r>
            <a:r>
              <a:rPr lang="en-US" dirty="0"/>
              <a:t> – Auto and Bike rides had relatively lower average ratings compared to premium vehicles.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Cancellations</a:t>
            </a:r>
            <a:r>
              <a:rPr lang="en-US" dirty="0"/>
              <a:t> – A significant number of cancellations were due to drivers, especially for short-distance rides.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Demand Patterns</a:t>
            </a:r>
            <a:r>
              <a:rPr lang="en-US" dirty="0"/>
              <a:t> – Mini and Bike were more popular in shorter rides, while Prime Sedan and SUV dominated long-distance bookings.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76712-8EB6-433A-0D0B-7256A25D1C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11193" y="2348917"/>
            <a:ext cx="4855967" cy="392507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Recommendations: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Incentivize drivers during peak hours to reduce cancellations.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Improve service quality in Auto and Bike categories to enhance customer ratings.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Optimize vehicle availability based on ride distance and demand patterns.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Promote premium vehicles like Prime Sedan and SUV to boost revenue.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601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Himanshu</a:t>
            </a:r>
          </a:p>
          <a:p>
            <a:r>
              <a:rPr lang="en-US" dirty="0"/>
              <a:t>Domain- Data Analyst</a:t>
            </a:r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hiimanshuu0406@gmail.com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289</Words>
  <Application>Microsoft Office PowerPoint</Application>
  <PresentationFormat>Widescreen</PresentationFormat>
  <Paragraphs>44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Franklin Gothic Book</vt:lpstr>
      <vt:lpstr>Franklin Gothic Demi</vt:lpstr>
      <vt:lpstr>Custom</vt:lpstr>
      <vt:lpstr>Ola Ride Insights</vt:lpstr>
      <vt:lpstr>Objectives</vt:lpstr>
      <vt:lpstr>Visual aids (Dashboards)</vt:lpstr>
      <vt:lpstr>Dashboard 1</vt:lpstr>
      <vt:lpstr>Dashboard 2</vt:lpstr>
      <vt:lpstr>SQL Insights</vt:lpstr>
      <vt:lpstr>2. Find the average ride distance for each vehicle type</vt:lpstr>
      <vt:lpstr>3. Get the total number      of cancelled rides by customers</vt:lpstr>
      <vt:lpstr>4. List the top 5 customers who booked the highest number of rides</vt:lpstr>
      <vt:lpstr>5. Get the number of rides cancelled by drivers due to personal and car-related issues</vt:lpstr>
      <vt:lpstr>6. Find the maximum and minimum driver ratings for Prime Sedan bookings</vt:lpstr>
      <vt:lpstr>7. Retrieve all rides where payment was made using UPI</vt:lpstr>
      <vt:lpstr>8. Find the average customer rating per vehicle type</vt:lpstr>
      <vt:lpstr>9. Calculate the total booking value of rides completed successfully</vt:lpstr>
      <vt:lpstr>10. List all incomplete rides along with the reason</vt:lpstr>
      <vt:lpstr>Streamlit</vt:lpstr>
      <vt:lpstr>PowerPoint Presentation</vt:lpstr>
      <vt:lpstr>PowerPoint Presentation</vt:lpstr>
      <vt:lpstr>PowerPoint Presentation</vt:lpstr>
      <vt:lpstr>Insights and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2025-09-28T16:49:03Z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